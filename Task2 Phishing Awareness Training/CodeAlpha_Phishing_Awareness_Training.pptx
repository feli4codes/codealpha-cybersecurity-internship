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300000"/>
          </a:xfrm>
          <a:prstGeom prst="rect">
            <a:avLst/>
          </a:prstGeom>
          <a:solidFill>
            <a:srgbClr val="11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200">
                <a:solidFill>
                  <a:srgbClr val="1E3C72"/>
                </a:solidFill>
                <a:latin typeface="Calibri"/>
              </a:rPr>
              <a:t>Phishing Awareness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1E3C72"/>
                </a:solidFill>
                <a:latin typeface="Calibri"/>
              </a:rPr>
              <a:t>Protecting Yourself from Online Scams</a:t>
            </a:r>
          </a:p>
          <a:p/>
          <a:p>
            <a:r>
              <a:rPr sz="1800">
                <a:solidFill>
                  <a:srgbClr val="1E3C72"/>
                </a:solidFill>
                <a:latin typeface="Calibri"/>
              </a:rPr>
              <a:t>Presented by: Felicity Avor</a:t>
            </a:r>
          </a:p>
          <a:p>
            <a:r>
              <a:rPr sz="1800">
                <a:solidFill>
                  <a:srgbClr val="1E3C72"/>
                </a:solidFill>
                <a:latin typeface="Calibri"/>
              </a:rPr>
              <a:t>CodeAlpha Cyber Security Internship</a:t>
            </a:r>
          </a:p>
        </p:txBody>
      </p:sp>
      <p:sp>
        <p:nvSpPr>
          <p:cNvPr id="5" name="Isosceles Triangle 4"/>
          <p:cNvSpPr/>
          <p:nvPr/>
        </p:nvSpPr>
        <p:spPr>
          <a:xfrm>
            <a:off x="8444000" y="150000"/>
            <a:ext cx="400000" cy="350000"/>
          </a:xfrm>
          <a:prstGeom prst="triangle">
            <a:avLst/>
          </a:prstGeom>
          <a:solidFill>
            <a:srgbClr val="FFC107"/>
          </a:solidFill>
          <a:ln>
            <a:solidFill>
              <a:srgbClr val="B4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000" y="180000"/>
            <a:ext cx="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200"/>
            </a:pPr>
            <a: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44000" y="6508000"/>
            <a:ext cx="1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🎣  🛡️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300000"/>
          </a:xfrm>
          <a:prstGeom prst="rect">
            <a:avLst/>
          </a:prstGeom>
          <a:solidFill>
            <a:srgbClr val="11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>
                <a:solidFill>
                  <a:srgbClr val="1E3C72"/>
                </a:solidFill>
                <a:latin typeface="Calibri"/>
              </a:rPr>
              <a:t>What is Phishing?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sz="1800">
                <a:solidFill>
                  <a:srgbClr val="1E3C72"/>
                </a:solidFill>
                <a:latin typeface="Calibri"/>
              </a:rPr>
              <a:t>Phishing is a cyberattack where criminals impersonate trusted organizations to steal sensitive information.</a:t>
            </a:r>
            <a:br/>
            <a:br/>
            <a:r>
              <a:rPr sz="1800">
                <a:solidFill>
                  <a:srgbClr val="1E3C72"/>
                </a:solidFill>
                <a:latin typeface="Calibri"/>
              </a:rPr>
              <a:t>Targets:</a:t>
            </a:r>
            <a:br/>
            <a:r>
              <a:rPr sz="1800">
                <a:solidFill>
                  <a:srgbClr val="1E3C72"/>
                </a:solidFill>
                <a:latin typeface="Calibri"/>
              </a:rPr>
              <a:t>• Passwords</a:t>
            </a:r>
            <a:br/>
            <a:r>
              <a:rPr sz="1800">
                <a:solidFill>
                  <a:srgbClr val="1E3C72"/>
                </a:solidFill>
                <a:latin typeface="Calibri"/>
              </a:rPr>
              <a:t>• Banking details</a:t>
            </a:r>
            <a:br/>
            <a:r>
              <a:rPr sz="1800">
                <a:solidFill>
                  <a:srgbClr val="1E3C72"/>
                </a:solidFill>
                <a:latin typeface="Calibri"/>
              </a:rPr>
              <a:t>• Personal information</a:t>
            </a:r>
            <a:br/>
            <a:r>
              <a:rPr sz="1800">
                <a:solidFill>
                  <a:srgbClr val="1E3C72"/>
                </a:solidFill>
                <a:latin typeface="Calibri"/>
              </a:rPr>
              <a:t>• Company data</a:t>
            </a:r>
          </a:p>
        </p:txBody>
      </p:sp>
      <p:sp>
        <p:nvSpPr>
          <p:cNvPr id="5" name="Isosceles Triangle 4"/>
          <p:cNvSpPr/>
          <p:nvPr/>
        </p:nvSpPr>
        <p:spPr>
          <a:xfrm>
            <a:off x="8444000" y="150000"/>
            <a:ext cx="400000" cy="350000"/>
          </a:xfrm>
          <a:prstGeom prst="triangle">
            <a:avLst/>
          </a:prstGeom>
          <a:solidFill>
            <a:srgbClr val="FFC107"/>
          </a:solidFill>
          <a:ln>
            <a:solidFill>
              <a:srgbClr val="B4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000" y="180000"/>
            <a:ext cx="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200"/>
            </a:pPr>
            <a: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44000" y="6508000"/>
            <a:ext cx="1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🎣  🛡️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300000"/>
          </a:xfrm>
          <a:prstGeom prst="rect">
            <a:avLst/>
          </a:prstGeom>
          <a:solidFill>
            <a:srgbClr val="11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>
                <a:solidFill>
                  <a:srgbClr val="1E3C72"/>
                </a:solidFill>
                <a:latin typeface="Calibri"/>
              </a:rPr>
              <a:t>Types of Phishing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sz="1800">
                <a:solidFill>
                  <a:srgbClr val="1E3C72"/>
                </a:solidFill>
                <a:latin typeface="Calibri"/>
              </a:rPr>
              <a:t>• Email Phishing</a:t>
            </a:r>
            <a:br/>
            <a:r>
              <a:rPr sz="1800">
                <a:solidFill>
                  <a:srgbClr val="1E3C72"/>
                </a:solidFill>
                <a:latin typeface="Calibri"/>
              </a:rPr>
              <a:t>• Spear Phishing</a:t>
            </a:r>
            <a:br/>
            <a:r>
              <a:rPr sz="1800">
                <a:solidFill>
                  <a:srgbClr val="1E3C72"/>
                </a:solidFill>
                <a:latin typeface="Calibri"/>
              </a:rPr>
              <a:t>• Smishing (SMS)</a:t>
            </a:r>
            <a:br/>
            <a:r>
              <a:rPr sz="1800">
                <a:solidFill>
                  <a:srgbClr val="1E3C72"/>
                </a:solidFill>
                <a:latin typeface="Calibri"/>
              </a:rPr>
              <a:t>• Vishing (Phone calls)</a:t>
            </a:r>
          </a:p>
        </p:txBody>
      </p:sp>
      <p:sp>
        <p:nvSpPr>
          <p:cNvPr id="5" name="Isosceles Triangle 4"/>
          <p:cNvSpPr/>
          <p:nvPr/>
        </p:nvSpPr>
        <p:spPr>
          <a:xfrm>
            <a:off x="8444000" y="150000"/>
            <a:ext cx="400000" cy="350000"/>
          </a:xfrm>
          <a:prstGeom prst="triangle">
            <a:avLst/>
          </a:prstGeom>
          <a:solidFill>
            <a:srgbClr val="FFC107"/>
          </a:solidFill>
          <a:ln>
            <a:solidFill>
              <a:srgbClr val="B4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000" y="180000"/>
            <a:ext cx="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200"/>
            </a:pPr>
            <a: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44000" y="6508000"/>
            <a:ext cx="1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🎣  🛡️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300000"/>
          </a:xfrm>
          <a:prstGeom prst="rect">
            <a:avLst/>
          </a:prstGeom>
          <a:solidFill>
            <a:srgbClr val="11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>
                <a:solidFill>
                  <a:srgbClr val="1E3C72"/>
                </a:solidFill>
                <a:latin typeface="Calibri"/>
              </a:rPr>
              <a:t>How to Spot a Phishing Email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sz="1800">
                <a:solidFill>
                  <a:srgbClr val="1E3C72"/>
                </a:solidFill>
                <a:latin typeface="Calibri"/>
              </a:rPr>
              <a:t>• Suspicious sender</a:t>
            </a:r>
            <a:br/>
            <a:r>
              <a:rPr sz="1800">
                <a:solidFill>
                  <a:srgbClr val="1E3C72"/>
                </a:solidFill>
                <a:latin typeface="Calibri"/>
              </a:rPr>
              <a:t>• Urgent language</a:t>
            </a:r>
            <a:br/>
            <a:r>
              <a:rPr sz="1800">
                <a:solidFill>
                  <a:srgbClr val="1E3C72"/>
                </a:solidFill>
                <a:latin typeface="Calibri"/>
              </a:rPr>
              <a:t>• Grammar mistakes</a:t>
            </a:r>
            <a:br/>
            <a:r>
              <a:rPr sz="1800">
                <a:solidFill>
                  <a:srgbClr val="1E3C72"/>
                </a:solidFill>
                <a:latin typeface="Calibri"/>
              </a:rPr>
              <a:t>• Unexpected attachments</a:t>
            </a:r>
            <a:br/>
            <a:r>
              <a:rPr sz="1800">
                <a:solidFill>
                  <a:srgbClr val="1E3C72"/>
                </a:solidFill>
                <a:latin typeface="Calibri"/>
              </a:rPr>
              <a:t>• Requests for passwords</a:t>
            </a:r>
            <a:br/>
            <a:r>
              <a:rPr sz="1800">
                <a:solidFill>
                  <a:srgbClr val="1E3C72"/>
                </a:solidFill>
                <a:latin typeface="Calibri"/>
              </a:rPr>
              <a:t>• Suspicious links</a:t>
            </a:r>
          </a:p>
        </p:txBody>
      </p:sp>
      <p:sp>
        <p:nvSpPr>
          <p:cNvPr id="5" name="Isosceles Triangle 4"/>
          <p:cNvSpPr/>
          <p:nvPr/>
        </p:nvSpPr>
        <p:spPr>
          <a:xfrm>
            <a:off x="8444000" y="150000"/>
            <a:ext cx="400000" cy="350000"/>
          </a:xfrm>
          <a:prstGeom prst="triangle">
            <a:avLst/>
          </a:prstGeom>
          <a:solidFill>
            <a:srgbClr val="FFC107"/>
          </a:solidFill>
          <a:ln>
            <a:solidFill>
              <a:srgbClr val="B4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000" y="180000"/>
            <a:ext cx="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200"/>
            </a:pPr>
            <a: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44000" y="6508000"/>
            <a:ext cx="1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🎣  🛡️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300000"/>
          </a:xfrm>
          <a:prstGeom prst="rect">
            <a:avLst/>
          </a:prstGeom>
          <a:solidFill>
            <a:srgbClr val="11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>
                <a:solidFill>
                  <a:srgbClr val="1E3C72"/>
                </a:solidFill>
                <a:latin typeface="Calibri"/>
              </a:rPr>
              <a:t>Fake Websites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sz="1800">
                <a:solidFill>
                  <a:srgbClr val="1E3C72"/>
                </a:solidFill>
                <a:latin typeface="Calibri"/>
              </a:rPr>
              <a:t>Check:</a:t>
            </a:r>
            <a:br/>
            <a:r>
              <a:rPr sz="1800">
                <a:solidFill>
                  <a:srgbClr val="1E3C72"/>
                </a:solidFill>
                <a:latin typeface="Calibri"/>
              </a:rPr>
              <a:t>• URL spelling</a:t>
            </a:r>
            <a:br/>
            <a:r>
              <a:rPr sz="1800">
                <a:solidFill>
                  <a:srgbClr val="1E3C72"/>
                </a:solidFill>
                <a:latin typeface="Calibri"/>
              </a:rPr>
              <a:t>• HTTPS padlock</a:t>
            </a:r>
            <a:br/>
            <a:r>
              <a:rPr sz="1800">
                <a:solidFill>
                  <a:srgbClr val="1E3C72"/>
                </a:solidFill>
                <a:latin typeface="Calibri"/>
              </a:rPr>
              <a:t>• Trusted domain</a:t>
            </a:r>
            <a:br/>
            <a:r>
              <a:rPr sz="1800">
                <a:solidFill>
                  <a:srgbClr val="1E3C72"/>
                </a:solidFill>
                <a:latin typeface="Calibri"/>
              </a:rPr>
              <a:t>• Professional design</a:t>
            </a:r>
            <a:br/>
            <a:br/>
            <a:r>
              <a:rPr sz="1800">
                <a:solidFill>
                  <a:srgbClr val="1E3C72"/>
                </a:solidFill>
                <a:latin typeface="Calibri"/>
              </a:rPr>
              <a:t>Example:</a:t>
            </a:r>
            <a:br/>
            <a:r>
              <a:rPr sz="1800">
                <a:solidFill>
                  <a:srgbClr val="1E3C72"/>
                </a:solidFill>
                <a:latin typeface="Calibri"/>
              </a:rPr>
              <a:t>Real: https://www.paypal.com</a:t>
            </a:r>
            <a:br/>
            <a:r>
              <a:rPr sz="1800">
                <a:solidFill>
                  <a:srgbClr val="1E3C72"/>
                </a:solidFill>
                <a:latin typeface="Calibri"/>
              </a:rPr>
              <a:t>Fake: https://paypa1-login.example</a:t>
            </a:r>
          </a:p>
        </p:txBody>
      </p:sp>
      <p:sp>
        <p:nvSpPr>
          <p:cNvPr id="5" name="Isosceles Triangle 4"/>
          <p:cNvSpPr/>
          <p:nvPr/>
        </p:nvSpPr>
        <p:spPr>
          <a:xfrm>
            <a:off x="8444000" y="150000"/>
            <a:ext cx="400000" cy="350000"/>
          </a:xfrm>
          <a:prstGeom prst="triangle">
            <a:avLst/>
          </a:prstGeom>
          <a:solidFill>
            <a:srgbClr val="FFC107"/>
          </a:solidFill>
          <a:ln>
            <a:solidFill>
              <a:srgbClr val="B4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000" y="180000"/>
            <a:ext cx="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200"/>
            </a:pPr>
            <a: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44000" y="6508000"/>
            <a:ext cx="1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🎣  🛡️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300000"/>
          </a:xfrm>
          <a:prstGeom prst="rect">
            <a:avLst/>
          </a:prstGeom>
          <a:solidFill>
            <a:srgbClr val="11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>
                <a:solidFill>
                  <a:srgbClr val="1E3C72"/>
                </a:solidFill>
                <a:latin typeface="Calibri"/>
              </a:rPr>
              <a:t>Social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sz="1800">
                <a:solidFill>
                  <a:srgbClr val="1E3C72"/>
                </a:solidFill>
                <a:latin typeface="Calibri"/>
              </a:rPr>
              <a:t>Attackers manipulate people using:</a:t>
            </a:r>
            <a:br/>
            <a:r>
              <a:rPr sz="1800">
                <a:solidFill>
                  <a:srgbClr val="1E3C72"/>
                </a:solidFill>
                <a:latin typeface="Calibri"/>
              </a:rPr>
              <a:t>• Fake IT support</a:t>
            </a:r>
            <a:br/>
            <a:r>
              <a:rPr sz="1800">
                <a:solidFill>
                  <a:srgbClr val="1E3C72"/>
                </a:solidFill>
                <a:latin typeface="Calibri"/>
              </a:rPr>
              <a:t>• Fake prizes</a:t>
            </a:r>
            <a:br/>
            <a:r>
              <a:rPr sz="1800">
                <a:solidFill>
                  <a:srgbClr val="1E3C72"/>
                </a:solidFill>
                <a:latin typeface="Calibri"/>
              </a:rPr>
              <a:t>• Account suspension warnings</a:t>
            </a:r>
            <a:br/>
            <a:r>
              <a:rPr sz="1800">
                <a:solidFill>
                  <a:srgbClr val="1E3C72"/>
                </a:solidFill>
                <a:latin typeface="Calibri"/>
              </a:rPr>
              <a:t>• Fake invoices</a:t>
            </a:r>
          </a:p>
        </p:txBody>
      </p:sp>
      <p:sp>
        <p:nvSpPr>
          <p:cNvPr id="5" name="Isosceles Triangle 4"/>
          <p:cNvSpPr/>
          <p:nvPr/>
        </p:nvSpPr>
        <p:spPr>
          <a:xfrm>
            <a:off x="8444000" y="150000"/>
            <a:ext cx="400000" cy="350000"/>
          </a:xfrm>
          <a:prstGeom prst="triangle">
            <a:avLst/>
          </a:prstGeom>
          <a:solidFill>
            <a:srgbClr val="FFC107"/>
          </a:solidFill>
          <a:ln>
            <a:solidFill>
              <a:srgbClr val="B4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000" y="180000"/>
            <a:ext cx="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200"/>
            </a:pPr>
            <a: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44000" y="6508000"/>
            <a:ext cx="1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🎣  🛡️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300000"/>
          </a:xfrm>
          <a:prstGeom prst="rect">
            <a:avLst/>
          </a:prstGeom>
          <a:solidFill>
            <a:srgbClr val="11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>
                <a:solidFill>
                  <a:srgbClr val="1E3C72"/>
                </a:solidFill>
                <a:latin typeface="Calibri"/>
              </a:rPr>
              <a:t>Real-World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sz="1800">
                <a:solidFill>
                  <a:srgbClr val="1E3C72"/>
                </a:solidFill>
                <a:latin typeface="Calibri"/>
              </a:rPr>
              <a:t>An employee receives a fake IT email asking to verify their password. They enter it on a fake website, allowing attackers to access the account.</a:t>
            </a:r>
            <a:br/>
            <a:br/>
            <a:r>
              <a:rPr sz="1800">
                <a:solidFill>
                  <a:srgbClr val="1E3C72"/>
                </a:solidFill>
                <a:latin typeface="Calibri"/>
              </a:rPr>
              <a:t>Prevention:</a:t>
            </a:r>
            <a:br/>
            <a:r>
              <a:rPr sz="1800">
                <a:solidFill>
                  <a:srgbClr val="1E3C72"/>
                </a:solidFill>
                <a:latin typeface="Calibri"/>
              </a:rPr>
              <a:t>• Verify sender</a:t>
            </a:r>
            <a:br/>
            <a:r>
              <a:rPr sz="1800">
                <a:solidFill>
                  <a:srgbClr val="1E3C72"/>
                </a:solidFill>
                <a:latin typeface="Calibri"/>
              </a:rPr>
              <a:t>• Check URL</a:t>
            </a:r>
            <a:br/>
            <a:r>
              <a:rPr sz="1800">
                <a:solidFill>
                  <a:srgbClr val="1E3C72"/>
                </a:solidFill>
                <a:latin typeface="Calibri"/>
              </a:rPr>
              <a:t>• Contact IT directly</a:t>
            </a:r>
          </a:p>
        </p:txBody>
      </p:sp>
      <p:sp>
        <p:nvSpPr>
          <p:cNvPr id="5" name="Isosceles Triangle 4"/>
          <p:cNvSpPr/>
          <p:nvPr/>
        </p:nvSpPr>
        <p:spPr>
          <a:xfrm>
            <a:off x="8444000" y="150000"/>
            <a:ext cx="400000" cy="350000"/>
          </a:xfrm>
          <a:prstGeom prst="triangle">
            <a:avLst/>
          </a:prstGeom>
          <a:solidFill>
            <a:srgbClr val="FFC107"/>
          </a:solidFill>
          <a:ln>
            <a:solidFill>
              <a:srgbClr val="B4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000" y="180000"/>
            <a:ext cx="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200"/>
            </a:pPr>
            <a: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44000" y="6508000"/>
            <a:ext cx="1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🎣  🛡️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300000"/>
          </a:xfrm>
          <a:prstGeom prst="rect">
            <a:avLst/>
          </a:prstGeom>
          <a:solidFill>
            <a:srgbClr val="11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>
                <a:solidFill>
                  <a:srgbClr val="1E3C72"/>
                </a:solidFill>
                <a:latin typeface="Calibri"/>
              </a:rP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sz="1800">
                <a:solidFill>
                  <a:srgbClr val="1E3C72"/>
                </a:solidFill>
                <a:latin typeface="Calibri"/>
              </a:rPr>
              <a:t>• Think before clicking</a:t>
            </a:r>
            <a:br/>
            <a:r>
              <a:rPr sz="1800">
                <a:solidFill>
                  <a:srgbClr val="1E3C72"/>
                </a:solidFill>
                <a:latin typeface="Calibri"/>
              </a:rPr>
              <a:t>• Use strong passwords</a:t>
            </a:r>
            <a:br/>
            <a:r>
              <a:rPr sz="1800">
                <a:solidFill>
                  <a:srgbClr val="1E3C72"/>
                </a:solidFill>
                <a:latin typeface="Calibri"/>
              </a:rPr>
              <a:t>• Enable MFA</a:t>
            </a:r>
            <a:br/>
            <a:r>
              <a:rPr sz="1800">
                <a:solidFill>
                  <a:srgbClr val="1E3C72"/>
                </a:solidFill>
                <a:latin typeface="Calibri"/>
              </a:rPr>
              <a:t>• Update software</a:t>
            </a:r>
            <a:br/>
            <a:r>
              <a:rPr sz="1800">
                <a:solidFill>
                  <a:srgbClr val="1E3C72"/>
                </a:solidFill>
                <a:latin typeface="Calibri"/>
              </a:rPr>
              <a:t>• Verify requests</a:t>
            </a:r>
            <a:br/>
            <a:r>
              <a:rPr sz="1800">
                <a:solidFill>
                  <a:srgbClr val="1E3C72"/>
                </a:solidFill>
                <a:latin typeface="Calibri"/>
              </a:rPr>
              <a:t>• Report suspicious emails</a:t>
            </a:r>
          </a:p>
        </p:txBody>
      </p:sp>
      <p:sp>
        <p:nvSpPr>
          <p:cNvPr id="5" name="Isosceles Triangle 4"/>
          <p:cNvSpPr/>
          <p:nvPr/>
        </p:nvSpPr>
        <p:spPr>
          <a:xfrm>
            <a:off x="8444000" y="150000"/>
            <a:ext cx="400000" cy="350000"/>
          </a:xfrm>
          <a:prstGeom prst="triangle">
            <a:avLst/>
          </a:prstGeom>
          <a:solidFill>
            <a:srgbClr val="FFC107"/>
          </a:solidFill>
          <a:ln>
            <a:solidFill>
              <a:srgbClr val="B4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000" y="180000"/>
            <a:ext cx="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200"/>
            </a:pPr>
            <a: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44000" y="6508000"/>
            <a:ext cx="1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🎣  🛡️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300000"/>
          </a:xfrm>
          <a:prstGeom prst="rect">
            <a:avLst/>
          </a:prstGeom>
          <a:solidFill>
            <a:srgbClr val="11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>
                <a:solidFill>
                  <a:srgbClr val="1E3C72"/>
                </a:solidFill>
                <a:latin typeface="Calibri"/>
              </a:rPr>
              <a:t>Quick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sz="1800">
                <a:solidFill>
                  <a:srgbClr val="1E3C72"/>
                </a:solidFill>
                <a:latin typeface="Calibri"/>
              </a:rPr>
              <a:t>1. Which is a phishing sign?</a:t>
            </a:r>
            <a:br/>
            <a:r>
              <a:rPr sz="1800">
                <a:solidFill>
                  <a:srgbClr val="1E3C72"/>
                </a:solidFill>
                <a:latin typeface="Calibri"/>
              </a:rPr>
              <a:t>✔ Urgent request for your password</a:t>
            </a:r>
            <a:br/>
            <a:br/>
            <a:r>
              <a:rPr sz="1800">
                <a:solidFill>
                  <a:srgbClr val="1E3C72"/>
                </a:solidFill>
                <a:latin typeface="Calibri"/>
              </a:rPr>
              <a:t>2. Before clicking a link?</a:t>
            </a:r>
            <a:br/>
            <a:r>
              <a:rPr sz="1800">
                <a:solidFill>
                  <a:srgbClr val="1E3C72"/>
                </a:solidFill>
                <a:latin typeface="Calibri"/>
              </a:rPr>
              <a:t>✔ Hover to inspect it</a:t>
            </a:r>
            <a:br/>
            <a:br/>
            <a:r>
              <a:rPr sz="1800">
                <a:solidFill>
                  <a:srgbClr val="1E3C72"/>
                </a:solidFill>
                <a:latin typeface="Calibri"/>
              </a:rPr>
              <a:t>3. MFA stands for?</a:t>
            </a:r>
            <a:br/>
            <a:r>
              <a:rPr sz="1800">
                <a:solidFill>
                  <a:srgbClr val="1E3C72"/>
                </a:solidFill>
                <a:latin typeface="Calibri"/>
              </a:rPr>
              <a:t>✔ Multi-Factor Authentication</a:t>
            </a:r>
          </a:p>
        </p:txBody>
      </p:sp>
      <p:sp>
        <p:nvSpPr>
          <p:cNvPr id="5" name="Isosceles Triangle 4"/>
          <p:cNvSpPr/>
          <p:nvPr/>
        </p:nvSpPr>
        <p:spPr>
          <a:xfrm>
            <a:off x="8444000" y="150000"/>
            <a:ext cx="400000" cy="350000"/>
          </a:xfrm>
          <a:prstGeom prst="triangle">
            <a:avLst/>
          </a:prstGeom>
          <a:solidFill>
            <a:srgbClr val="FFC107"/>
          </a:solidFill>
          <a:ln>
            <a:solidFill>
              <a:srgbClr val="B4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000" y="180000"/>
            <a:ext cx="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200"/>
            </a:pPr>
            <a: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44000" y="6508000"/>
            <a:ext cx="1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🎣  🛡️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300000"/>
          </a:xfrm>
          <a:prstGeom prst="rect">
            <a:avLst/>
          </a:prstGeom>
          <a:solidFill>
            <a:srgbClr val="11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>
                <a:solidFill>
                  <a:srgbClr val="1E3C72"/>
                </a:solidFill>
                <a:latin typeface="Calibri"/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sz="1800">
                <a:solidFill>
                  <a:srgbClr val="1E3C72"/>
                </a:solidFill>
                <a:latin typeface="Calibri"/>
              </a:rPr>
              <a:t>Stay Alert. Stay Secure.</a:t>
            </a:r>
            <a:br/>
            <a:r>
              <a:rPr sz="1800">
                <a:solidFill>
                  <a:srgbClr val="1E3C72"/>
                </a:solidFill>
                <a:latin typeface="Calibri"/>
              </a:rPr>
              <a:t>Think Before You Click!</a:t>
            </a:r>
            <a:br/>
            <a:br/>
            <a:r>
              <a:rPr sz="1800">
                <a:solidFill>
                  <a:srgbClr val="1E3C72"/>
                </a:solidFill>
                <a:latin typeface="Calibri"/>
              </a:rPr>
              <a:t>Presented by Felicity Avor</a:t>
            </a:r>
          </a:p>
        </p:txBody>
      </p:sp>
      <p:sp>
        <p:nvSpPr>
          <p:cNvPr id="5" name="Isosceles Triangle 4"/>
          <p:cNvSpPr/>
          <p:nvPr/>
        </p:nvSpPr>
        <p:spPr>
          <a:xfrm>
            <a:off x="8444000" y="150000"/>
            <a:ext cx="400000" cy="350000"/>
          </a:xfrm>
          <a:prstGeom prst="triangle">
            <a:avLst/>
          </a:prstGeom>
          <a:solidFill>
            <a:srgbClr val="FFC107"/>
          </a:solidFill>
          <a:ln>
            <a:solidFill>
              <a:srgbClr val="B4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000" y="180000"/>
            <a:ext cx="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200"/>
            </a:pPr>
            <a: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44000" y="6508000"/>
            <a:ext cx="1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🎣  🛡️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